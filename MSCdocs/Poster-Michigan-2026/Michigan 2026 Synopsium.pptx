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3" r:id="rId2"/>
  </p:sldMasterIdLst>
  <p:notesMasterIdLst>
    <p:notesMasterId r:id="rId4"/>
  </p:notesMasterIdLst>
  <p:handoutMasterIdLst>
    <p:handoutMasterId r:id="rId5"/>
  </p:handoutMasterIdLst>
  <p:sldIdLst>
    <p:sldId id="257" r:id="rId3"/>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18">
          <p15:clr>
            <a:srgbClr val="A4A3A4"/>
          </p15:clr>
        </p15:guide>
        <p15:guide id="2" orient="horz" pos="288">
          <p15:clr>
            <a:srgbClr val="A4A3A4"/>
          </p15:clr>
        </p15:guide>
        <p15:guide id="3" orient="horz" pos="20160">
          <p15:clr>
            <a:srgbClr val="A4A3A4"/>
          </p15:clr>
        </p15:guide>
        <p15:guide id="4" orient="horz">
          <p15:clr>
            <a:srgbClr val="A4A3A4"/>
          </p15:clr>
        </p15:guide>
        <p15:guide id="5" pos="264" userDrawn="1">
          <p15:clr>
            <a:srgbClr val="A4A3A4"/>
          </p15:clr>
        </p15:guide>
        <p15:guide id="6" pos="27384"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4626" autoAdjust="0"/>
  </p:normalViewPr>
  <p:slideViewPr>
    <p:cSldViewPr snapToGrid="0" snapToObjects="1" showGuides="1">
      <p:cViewPr>
        <p:scale>
          <a:sx n="30" d="100"/>
          <a:sy n="30" d="100"/>
        </p:scale>
        <p:origin x="53" y="38"/>
      </p:cViewPr>
      <p:guideLst>
        <p:guide orient="horz" pos="3318"/>
        <p:guide orient="horz" pos="288"/>
        <p:guide orient="horz" pos="20160"/>
        <p:guide orient="horz"/>
        <p:guide pos="264"/>
        <p:guide pos="27384"/>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79" d="100"/>
          <a:sy n="79" d="100"/>
        </p:scale>
        <p:origin x="-376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commentAuthors" Target="commentAuthors.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9/1/2026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9/1/2026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11118029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6x48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59674"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77827"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77825"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60161"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60162"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385343"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377404" y="5548749"/>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3390292" y="5548749"/>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90292"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90292"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90292"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90292"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90292"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59674"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59674"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77827"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77825"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60161"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60162"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385343"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377404" y="5548749"/>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3390292" y="5548749"/>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90292"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90292"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90292"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90292"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90292"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59674"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438864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1567305" y="32390910"/>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graphicFrame>
        <p:nvGraphicFramePr>
          <p:cNvPr id="3" name="Table 2">
            <a:extLst>
              <a:ext uri="{FF2B5EF4-FFF2-40B4-BE49-F238E27FC236}">
                <a16:creationId xmlns:a16="http://schemas.microsoft.com/office/drawing/2014/main" id="{AF9AA5EE-77AD-9645-B396-F73887C4B6FD}"/>
              </a:ext>
            </a:extLst>
          </p:cNvPr>
          <p:cNvGraphicFramePr>
            <a:graphicFrameLocks noGrp="1"/>
          </p:cNvGraphicFramePr>
          <p:nvPr userDrawn="1">
            <p:extLst>
              <p:ext uri="{D42A27DB-BD31-4B8C-83A1-F6EECF244321}">
                <p14:modId xmlns:p14="http://schemas.microsoft.com/office/powerpoint/2010/main" val="846862511"/>
              </p:ext>
            </p:extLst>
          </p:nvPr>
        </p:nvGraphicFramePr>
        <p:xfrm>
          <a:off x="-10611120" y="14098"/>
          <a:ext cx="9776869" cy="32679220"/>
        </p:xfrm>
        <a:graphic>
          <a:graphicData uri="http://schemas.openxmlformats.org/drawingml/2006/table">
            <a:tbl>
              <a:tblPr firstRow="1" bandRow="1">
                <a:tableStyleId>{5C22544A-7EE6-4342-B048-85BDC9FD1C3A}</a:tableStyleId>
              </a:tblPr>
              <a:tblGrid>
                <a:gridCol w="4192245">
                  <a:extLst>
                    <a:ext uri="{9D8B030D-6E8A-4147-A177-3AD203B41FA5}">
                      <a16:colId xmlns:a16="http://schemas.microsoft.com/office/drawing/2014/main" val="20000"/>
                    </a:ext>
                  </a:extLst>
                </a:gridCol>
                <a:gridCol w="5584624">
                  <a:extLst>
                    <a:ext uri="{9D8B030D-6E8A-4147-A177-3AD203B41FA5}">
                      <a16:colId xmlns:a16="http://schemas.microsoft.com/office/drawing/2014/main" val="20001"/>
                    </a:ext>
                  </a:extLst>
                </a:gridCol>
              </a:tblGrid>
              <a:tr h="1329113">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600" b="0" spc="600" dirty="0">
                          <a:solidFill>
                            <a:srgbClr val="1F3A4E"/>
                          </a:solidFill>
                          <a:latin typeface="Arial Black" panose="020B0A04020102020204" pitchFamily="34" charset="0"/>
                        </a:rPr>
                        <a:t>QUICK START GUIDE</a:t>
                      </a:r>
                      <a:br>
                        <a:rPr lang="en-US" sz="3600" b="0" spc="600" dirty="0">
                          <a:solidFill>
                            <a:srgbClr val="1F3A4E"/>
                          </a:solidFill>
                          <a:latin typeface="Arial Black" panose="020B0A04020102020204" pitchFamily="34" charset="0"/>
                        </a:rPr>
                      </a:br>
                      <a:r>
                        <a:rPr lang="en-US" sz="2800" b="1" spc="0" dirty="0">
                          <a:solidFill>
                            <a:srgbClr val="FF0000"/>
                          </a:solidFill>
                          <a:latin typeface="Trebuchet MS" pitchFamily="34" charset="0"/>
                        </a:rPr>
                        <a:t>(THIS SIDEBAR WILL NOT PRINT)</a:t>
                      </a:r>
                      <a:endParaRPr lang="en-US" sz="36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06624">
                <a:tc gridSpan="2">
                  <a:txBody>
                    <a:bodyPr/>
                    <a:lstStyle/>
                    <a:p>
                      <a:pPr defTabSz="3765639"/>
                      <a:r>
                        <a:rPr lang="en-US" sz="2000" i="0" dirty="0">
                          <a:solidFill>
                            <a:srgbClr val="D9D9D9"/>
                          </a:solidFill>
                          <a:latin typeface="Arial"/>
                          <a:cs typeface="Arial"/>
                        </a:rPr>
                        <a:t>This PowerPoint template produces a </a:t>
                      </a:r>
                      <a:r>
                        <a:rPr lang="en-US" sz="2000" i="0" dirty="0">
                          <a:solidFill>
                            <a:srgbClr val="FFC000"/>
                          </a:solidFill>
                          <a:latin typeface="Arial"/>
                          <a:cs typeface="Arial"/>
                        </a:rPr>
                        <a:t>36"x48" </a:t>
                      </a:r>
                      <a:r>
                        <a:rPr lang="en-US" sz="20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the  </a:t>
                      </a:r>
                      <a:r>
                        <a:rPr lang="en-US" sz="2000" i="0" dirty="0">
                          <a:solidFill>
                            <a:srgbClr val="FFC000"/>
                          </a:solidFill>
                          <a:latin typeface="Arial"/>
                          <a:cs typeface="Arial"/>
                        </a:rPr>
                        <a:t>HELP DESK</a:t>
                      </a:r>
                      <a:r>
                        <a:rPr lang="en-US" sz="2000" i="0" baseline="0" dirty="0">
                          <a:solidFill>
                            <a:srgbClr val="D9D9D9"/>
                          </a:solidFill>
                          <a:latin typeface="Arial"/>
                          <a:cs typeface="Arial"/>
                        </a:rPr>
                        <a:t> </a:t>
                      </a:r>
                      <a:r>
                        <a:rPr lang="en-US" sz="2000" i="0" dirty="0">
                          <a:solidFill>
                            <a:srgbClr val="D9D9D9"/>
                          </a:solidFill>
                          <a:latin typeface="Arial"/>
                          <a:cs typeface="Arial"/>
                        </a:rPr>
                        <a:t>tab.</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To print your poster using our same-day professional printing service,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a:t>
                      </a:r>
                      <a:r>
                        <a:rPr lang="en-US" sz="2000" i="0" dirty="0">
                          <a:solidFill>
                            <a:srgbClr val="FFC000"/>
                          </a:solidFill>
                          <a:latin typeface="Arial"/>
                          <a:cs typeface="Arial"/>
                        </a:rPr>
                        <a:t>Order your poster</a:t>
                      </a:r>
                      <a:r>
                        <a:rPr lang="en-US" sz="2000" i="0" dirty="0">
                          <a:solidFill>
                            <a:srgbClr val="D9D9D9"/>
                          </a:solidFill>
                          <a:latin typeface="Arial"/>
                          <a:cs typeface="Arial"/>
                        </a:rPr>
                        <a:t>".</a:t>
                      </a:r>
                      <a:endParaRPr lang="en-US" sz="20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572417">
                <a:tc>
                  <a:txBody>
                    <a:bodyPr/>
                    <a:lstStyle/>
                    <a:p>
                      <a:pPr algn="ctr"/>
                      <a:endParaRPr lang="en-US" sz="2000" dirty="0">
                        <a:solidFill>
                          <a:srgbClr val="1F3A4E"/>
                        </a:solidFill>
                      </a:endParaRPr>
                    </a:p>
                    <a:p>
                      <a:pPr algn="ctr"/>
                      <a:endParaRPr lang="en-US" sz="2000" dirty="0">
                        <a:solidFill>
                          <a:srgbClr val="1F3A4E"/>
                        </a:solidFill>
                      </a:endParaRPr>
                    </a:p>
                    <a:p>
                      <a:pPr algn="ctr"/>
                      <a:r>
                        <a:rPr lang="en-US" sz="2000" dirty="0">
                          <a:solidFill>
                            <a:schemeClr val="bg1"/>
                          </a:solidFill>
                          <a:latin typeface="Arial" panose="020B0604020202020204" pitchFamily="34" charset="0"/>
                          <a:cs typeface="Arial" panose="020B0604020202020204" pitchFamily="34" charset="0"/>
                        </a:rPr>
                        <a:t>This is a template for a </a:t>
                      </a:r>
                    </a:p>
                    <a:p>
                      <a:pPr algn="ctr"/>
                      <a:r>
                        <a:rPr lang="en-US" sz="2000" dirty="0">
                          <a:solidFill>
                            <a:schemeClr val="bg1"/>
                          </a:solidFill>
                          <a:latin typeface="Arial" panose="020B0604020202020204" pitchFamily="34" charset="0"/>
                          <a:cs typeface="Arial" panose="020B0604020202020204" pitchFamily="34" charset="0"/>
                        </a:rPr>
                        <a:t>presentation poster</a:t>
                      </a:r>
                      <a:br>
                        <a:rPr lang="en-US" sz="2000" dirty="0">
                          <a:solidFill>
                            <a:schemeClr val="bg1"/>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36 inches tall</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by</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48 inches wide</a:t>
                      </a:r>
                      <a:br>
                        <a:rPr lang="en-US" sz="2000" dirty="0">
                          <a:solidFill>
                            <a:schemeClr val="bg1"/>
                          </a:solidFill>
                          <a:latin typeface="Arial" panose="020B0604020202020204" pitchFamily="34" charset="0"/>
                          <a:cs typeface="Arial" panose="020B0604020202020204" pitchFamily="34" charset="0"/>
                        </a:rPr>
                      </a:br>
                      <a:endParaRPr lang="en-US" sz="20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Important: Check the template size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30 tall x 40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42 tall x 56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48 tall x 64 wide</a:t>
                      </a:r>
                    </a:p>
                  </a:txBody>
                  <a:tcPr marL="182880" marT="137160">
                    <a:solidFill>
                      <a:srgbClr val="010101"/>
                    </a:solidFill>
                  </a:tcPr>
                </a:tc>
                <a:extLst>
                  <a:ext uri="{0D108BD9-81ED-4DB2-BD59-A6C34878D82A}">
                    <a16:rowId xmlns:a16="http://schemas.microsoft.com/office/drawing/2014/main" val="10008"/>
                  </a:ext>
                </a:extLst>
              </a:tr>
              <a:tr h="4288692">
                <a:tc>
                  <a:txBody>
                    <a:bodyPr/>
                    <a:lstStyle/>
                    <a:p>
                      <a:endParaRPr lang="en-US" sz="2000" dirty="0">
                        <a:solidFill>
                          <a:srgbClr val="1F3A4E"/>
                        </a:solidFill>
                      </a:endParaRPr>
                    </a:p>
                  </a:txBody>
                  <a:tcPr>
                    <a:blipFill rotWithShape="1">
                      <a:blip r:embed="rId3"/>
                      <a:stretch>
                        <a:fillRect/>
                      </a:stretch>
                    </a:blipFill>
                  </a:tcPr>
                </a:tc>
                <a:tc>
                  <a:txBody>
                    <a:bodyPr/>
                    <a:lstStyle/>
                    <a:p>
                      <a:pPr algn="l"/>
                      <a:r>
                        <a:rPr lang="en-US" sz="2400" b="1" baseline="0" dirty="0">
                          <a:solidFill>
                            <a:srgbClr val="FFC000"/>
                          </a:solidFill>
                          <a:latin typeface="Arial" panose="020B0604020202020204" pitchFamily="34" charset="0"/>
                          <a:cs typeface="Arial" panose="020B0604020202020204" pitchFamily="34" charset="0"/>
                        </a:rPr>
                        <a:t>How to </a:t>
                      </a:r>
                      <a:r>
                        <a:rPr lang="en-US" sz="4000" b="1" baseline="0" dirty="0">
                          <a:solidFill>
                            <a:srgbClr val="FFC000"/>
                          </a:solidFill>
                          <a:latin typeface="Arial" panose="020B0604020202020204" pitchFamily="34" charset="0"/>
                          <a:cs typeface="Arial" panose="020B0604020202020204" pitchFamily="34" charset="0"/>
                        </a:rPr>
                        <a:t>Zoom in </a:t>
                      </a:r>
                      <a:r>
                        <a:rPr lang="en-US" sz="2400" b="1" baseline="0" dirty="0">
                          <a:solidFill>
                            <a:srgbClr val="FFC000"/>
                          </a:solidFill>
                          <a:latin typeface="Arial" panose="020B0604020202020204" pitchFamily="34" charset="0"/>
                          <a:cs typeface="Arial" panose="020B0604020202020204" pitchFamily="34" charset="0"/>
                        </a:rPr>
                        <a:t>and </a:t>
                      </a:r>
                      <a:r>
                        <a:rPr lang="en-US" sz="1800" b="1" baseline="0" dirty="0">
                          <a:solidFill>
                            <a:srgbClr val="FFC000"/>
                          </a:solidFill>
                          <a:latin typeface="Arial" panose="020B0604020202020204" pitchFamily="34" charset="0"/>
                          <a:cs typeface="Arial" panose="020B0604020202020204" pitchFamily="34" charset="0"/>
                        </a:rPr>
                        <a:t>out</a:t>
                      </a:r>
                      <a:endParaRPr lang="en-US" sz="2400" b="1" baseline="0" dirty="0">
                        <a:solidFill>
                          <a:srgbClr val="FFC000"/>
                        </a:solidFill>
                        <a:latin typeface="Arial" panose="020B0604020202020204" pitchFamily="34" charset="0"/>
                        <a:cs typeface="Arial" panose="020B0604020202020204" pitchFamily="34" charset="0"/>
                      </a:endParaRPr>
                    </a:p>
                    <a:p>
                      <a:pPr algn="l"/>
                      <a:r>
                        <a:rPr lang="en-US" sz="20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1. </a:t>
                      </a:r>
                      <a:r>
                        <a:rPr lang="en-US" sz="20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2. </a:t>
                      </a:r>
                      <a:r>
                        <a:rPr lang="en-US" sz="20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800526">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Ruler and Guides</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824339">
                <a:tc>
                  <a:txBody>
                    <a:bodyPr/>
                    <a:lstStyle/>
                    <a:p>
                      <a:endParaRPr lang="en-US" sz="2000" dirty="0">
                        <a:solidFill>
                          <a:srgbClr val="1F3A4E"/>
                        </a:solidFill>
                      </a:endParaRPr>
                    </a:p>
                  </a:txBody>
                  <a:tcPr>
                    <a:blipFill rotWithShape="1">
                      <a:blip r:embed="rId4"/>
                      <a:stretch>
                        <a:fillRect/>
                      </a:stretch>
                    </a:blipFill>
                  </a:tcPr>
                </a:tc>
                <a:tc>
                  <a:txBody>
                    <a:bodyPr/>
                    <a:lstStyle/>
                    <a:p>
                      <a:pPr marL="0" lvl="1" indent="0" algn="l" defTabSz="114300"/>
                      <a:r>
                        <a:rPr lang="en-US" sz="2400" b="1" baseline="0" dirty="0">
                          <a:solidFill>
                            <a:srgbClr val="FFC000"/>
                          </a:solidFill>
                          <a:latin typeface="Arial" panose="020B0604020202020204" pitchFamily="34" charset="0"/>
                          <a:cs typeface="Arial" panose="020B0604020202020204" pitchFamily="34" charset="0"/>
                        </a:rPr>
                        <a:t>Headers and text containers</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519135">
                <a:tc gridSpan="2">
                  <a:txBody>
                    <a:bodyPr/>
                    <a:lstStyle/>
                    <a:p>
                      <a:r>
                        <a:rPr lang="en-US" sz="2400" b="1" dirty="0">
                          <a:solidFill>
                            <a:srgbClr val="FFC000"/>
                          </a:solidFill>
                          <a:latin typeface="Arial" panose="020B0604020202020204" pitchFamily="34" charset="0"/>
                          <a:cs typeface="Arial" panose="020B0604020202020204" pitchFamily="34" charset="0"/>
                        </a:rPr>
                        <a:t>Adding content to the poster</a:t>
                      </a:r>
                    </a:p>
                    <a:p>
                      <a:r>
                        <a:rPr lang="en-US" sz="20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0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0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37765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93170">
                <a:tc gridSpan="2">
                  <a:txBody>
                    <a:bodyPr/>
                    <a:lstStyle/>
                    <a:p>
                      <a:endParaRPr lang="en-US" sz="20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28027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0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18727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4" name="Table 3">
            <a:extLst>
              <a:ext uri="{FF2B5EF4-FFF2-40B4-BE49-F238E27FC236}">
                <a16:creationId xmlns:a16="http://schemas.microsoft.com/office/drawing/2014/main" id="{6338BD29-2BD7-AB47-B9B8-5033641D7C2D}"/>
              </a:ext>
            </a:extLst>
          </p:cNvPr>
          <p:cNvGraphicFramePr>
            <a:graphicFrameLocks noGrp="1"/>
          </p:cNvGraphicFramePr>
          <p:nvPr userDrawn="1">
            <p:extLst>
              <p:ext uri="{D42A27DB-BD31-4B8C-83A1-F6EECF244321}">
                <p14:modId xmlns:p14="http://schemas.microsoft.com/office/powerpoint/2010/main" val="336852881"/>
              </p:ext>
            </p:extLst>
          </p:nvPr>
        </p:nvGraphicFramePr>
        <p:xfrm>
          <a:off x="44695229" y="-84749"/>
          <a:ext cx="9430188" cy="33075070"/>
        </p:xfrm>
        <a:graphic>
          <a:graphicData uri="http://schemas.openxmlformats.org/drawingml/2006/table">
            <a:tbl>
              <a:tblPr firstRow="1" bandRow="1">
                <a:tableStyleId>{5C22544A-7EE6-4342-B048-85BDC9FD1C3A}</a:tableStyleId>
              </a:tblPr>
              <a:tblGrid>
                <a:gridCol w="3343835">
                  <a:extLst>
                    <a:ext uri="{9D8B030D-6E8A-4147-A177-3AD203B41FA5}">
                      <a16:colId xmlns:a16="http://schemas.microsoft.com/office/drawing/2014/main" val="20000"/>
                    </a:ext>
                  </a:extLst>
                </a:gridCol>
                <a:gridCol w="1381559">
                  <a:extLst>
                    <a:ext uri="{9D8B030D-6E8A-4147-A177-3AD203B41FA5}">
                      <a16:colId xmlns:a16="http://schemas.microsoft.com/office/drawing/2014/main" val="997673227"/>
                    </a:ext>
                  </a:extLst>
                </a:gridCol>
                <a:gridCol w="4704794">
                  <a:extLst>
                    <a:ext uri="{9D8B030D-6E8A-4147-A177-3AD203B41FA5}">
                      <a16:colId xmlns:a16="http://schemas.microsoft.com/office/drawing/2014/main" val="4164475170"/>
                    </a:ext>
                  </a:extLst>
                </a:gridCol>
              </a:tblGrid>
              <a:tr h="1756432">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63101">
                <a:tc gridSpan="3">
                  <a:txBody>
                    <a:bodyPr/>
                    <a:lstStyle/>
                    <a:p>
                      <a:pPr algn="l"/>
                      <a:r>
                        <a:rPr lang="en-US" sz="28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8"/>
                      <a:stretch>
                        <a:fillRect/>
                      </a:stretch>
                    </a:blipFill>
                  </a:tcPr>
                </a:tc>
                <a:tc hMerge="1">
                  <a:txBody>
                    <a:bodyPr/>
                    <a:lstStyle/>
                    <a:p>
                      <a:endParaRPr lang="en-US"/>
                    </a:p>
                  </a:txBody>
                  <a:tcPr/>
                </a:tc>
                <a:extLst>
                  <a:ext uri="{0D108BD9-81ED-4DB2-BD59-A6C34878D82A}">
                    <a16:rowId xmlns:a16="http://schemas.microsoft.com/office/drawing/2014/main" val="10001"/>
                  </a:ext>
                </a:extLst>
              </a:tr>
              <a:tr h="3667719">
                <a:tc gridSpan="3">
                  <a:txBody>
                    <a:bodyPr/>
                    <a:lstStyle/>
                    <a:p>
                      <a:r>
                        <a:rPr lang="en-US" sz="28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u="sng" dirty="0">
                        <a:solidFill>
                          <a:srgbClr val="FFC000"/>
                        </a:solidFill>
                      </a:endParaRP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9"/>
                      <a:stretch>
                        <a:fillRect/>
                      </a:stretch>
                    </a:blipFill>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5177074">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288832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766341567"/>
                  </a:ext>
                </a:extLst>
              </a:tr>
              <a:tr h="3781426">
                <a:tc gridSpan="2">
                  <a:txBody>
                    <a:bodyPr/>
                    <a:lstStyle/>
                    <a:p>
                      <a:r>
                        <a:rPr lang="en-US" sz="2800" b="1" dirty="0">
                          <a:solidFill>
                            <a:srgbClr val="FFC000"/>
                          </a:solidFill>
                          <a:latin typeface="Arial" panose="020B0604020202020204" pitchFamily="34" charset="0"/>
                          <a:cs typeface="Arial" panose="020B0604020202020204" pitchFamily="34" charset="0"/>
                        </a:rPr>
                        <a:t>How to</a:t>
                      </a:r>
                      <a:r>
                        <a:rPr lang="en-US" sz="2800" b="1" baseline="0" dirty="0">
                          <a:solidFill>
                            <a:srgbClr val="FFC000"/>
                          </a:solidFill>
                          <a:latin typeface="Arial" panose="020B0604020202020204" pitchFamily="34" charset="0"/>
                          <a:cs typeface="Arial" panose="020B0604020202020204" pitchFamily="34" charset="0"/>
                        </a:rPr>
                        <a:t> preview your poster prior to printing</a:t>
                      </a:r>
                      <a:endParaRPr lang="en-US" sz="2800" b="1" dirty="0">
                        <a:solidFill>
                          <a:srgbClr val="FFC000"/>
                        </a:solidFill>
                        <a:latin typeface="Arial" panose="020B0604020202020204" pitchFamily="34" charset="0"/>
                        <a:cs typeface="Arial" panose="020B0604020202020204" pitchFamily="34" charset="0"/>
                      </a:endParaRPr>
                    </a:p>
                    <a:p>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hMerge="1">
                  <a:txBody>
                    <a:bodyPr/>
                    <a:lstStyle/>
                    <a:p>
                      <a:endParaRPr lang="en-US"/>
                    </a:p>
                  </a:txBody>
                  <a:tcPr/>
                </a:tc>
                <a:tc>
                  <a:txBody>
                    <a:bodyPr/>
                    <a:lstStyle/>
                    <a:p>
                      <a:pPr algn="ctr"/>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5674009">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are ready to have your poster printed go online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and click on the "</a:t>
                      </a:r>
                      <a:r>
                        <a:rPr lang="en-US" sz="2400" noProof="0" dirty="0">
                          <a:solidFill>
                            <a:srgbClr val="FFC000"/>
                          </a:solidFill>
                          <a:latin typeface="Arial"/>
                          <a:cs typeface="Arial"/>
                        </a:rPr>
                        <a:t>Order Your Poster</a:t>
                      </a:r>
                      <a:r>
                        <a:rPr lang="en-US" sz="24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400" noProof="0" dirty="0">
                          <a:solidFill>
                            <a:srgbClr val="D9D9D9"/>
                          </a:solidFill>
                          <a:latin typeface="Arial"/>
                          <a:cs typeface="Arial"/>
                        </a:rPr>
                      </a:br>
                      <a:r>
                        <a:rPr lang="en-US" sz="2400" noProof="0" dirty="0">
                          <a:solidFill>
                            <a:srgbClr val="D9D9D9"/>
                          </a:solidFill>
                          <a:latin typeface="Arial"/>
                          <a:cs typeface="Arial"/>
                        </a:rPr>
                        <a:t>Go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354778">
                <a:tc gridSpan="3">
                  <a:txBody>
                    <a:bodyPr/>
                    <a:lstStyle/>
                    <a:p>
                      <a:endParaRPr lang="en-US" sz="2400" dirty="0">
                        <a:solidFill>
                          <a:srgbClr val="1F3A4E"/>
                        </a:solidFill>
                      </a:endParaRPr>
                    </a:p>
                  </a:txBody>
                  <a:tcPr marL="182880" marT="137160">
                    <a:blipFill dpi="0" rotWithShape="1">
                      <a:blip r:embed="rId11">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3212204">
                <a:tc>
                  <a:txBody>
                    <a:bodyPr/>
                    <a:lstStyle/>
                    <a:p>
                      <a:pPr>
                        <a:lnSpc>
                          <a:spcPts val="2600"/>
                        </a:lnSpc>
                      </a:pPr>
                      <a:r>
                        <a:rPr lang="en-US" sz="2000" dirty="0">
                          <a:solidFill>
                            <a:schemeClr val="bg1">
                              <a:lumMod val="85000"/>
                            </a:schemeClr>
                          </a:solidFill>
                          <a:latin typeface="Arial"/>
                          <a:cs typeface="Arial"/>
                        </a:rPr>
                        <a:t>© 2019</a:t>
                      </a:r>
                      <a:r>
                        <a:rPr lang="en-US" sz="2000" baseline="0" dirty="0">
                          <a:solidFill>
                            <a:schemeClr val="bg1">
                              <a:lumMod val="85000"/>
                            </a:schemeClr>
                          </a:solidFill>
                          <a:latin typeface="Arial"/>
                          <a:cs typeface="Arial"/>
                        </a:rPr>
                        <a:t> </a:t>
                      </a:r>
                      <a:r>
                        <a:rPr lang="en-US" sz="2000" dirty="0" err="1">
                          <a:solidFill>
                            <a:schemeClr val="bg1">
                              <a:lumMod val="85000"/>
                            </a:schemeClr>
                          </a:solidFill>
                          <a:latin typeface="Arial"/>
                          <a:cs typeface="Arial"/>
                        </a:rPr>
                        <a:t>PosterPresentations.com</a:t>
                      </a:r>
                      <a:br>
                        <a:rPr lang="en-US" sz="2000" dirty="0">
                          <a:solidFill>
                            <a:schemeClr val="bg1">
                              <a:lumMod val="85000"/>
                            </a:schemeClr>
                          </a:solidFill>
                          <a:latin typeface="Arial"/>
                          <a:cs typeface="Arial"/>
                        </a:rPr>
                      </a:br>
                      <a:r>
                        <a:rPr lang="en-US" sz="2000" dirty="0">
                          <a:solidFill>
                            <a:schemeClr val="bg1">
                              <a:lumMod val="85000"/>
                            </a:schemeClr>
                          </a:solidFill>
                          <a:latin typeface="Arial"/>
                          <a:cs typeface="Arial"/>
                        </a:rPr>
                        <a:t>2117 Fourth Street ,</a:t>
                      </a:r>
                      <a:r>
                        <a:rPr lang="en-US" sz="2000" baseline="0" dirty="0">
                          <a:solidFill>
                            <a:schemeClr val="bg1">
                              <a:lumMod val="85000"/>
                            </a:schemeClr>
                          </a:solidFill>
                          <a:latin typeface="Arial"/>
                          <a:cs typeface="Arial"/>
                        </a:rPr>
                        <a:t> STE C        </a:t>
                      </a:r>
                    </a:p>
                    <a:p>
                      <a:pPr>
                        <a:lnSpc>
                          <a:spcPts val="2600"/>
                        </a:lnSpc>
                      </a:pPr>
                      <a:r>
                        <a:rPr lang="en-US" sz="2000" baseline="0" dirty="0">
                          <a:solidFill>
                            <a:schemeClr val="bg1">
                              <a:lumMod val="85000"/>
                            </a:schemeClr>
                          </a:solidFill>
                          <a:latin typeface="Arial"/>
                          <a:cs typeface="Arial"/>
                        </a:rPr>
                        <a:t>Berkeley CA 94710 USA</a:t>
                      </a:r>
                      <a:endParaRPr lang="en-US" sz="2000" dirty="0">
                        <a:solidFill>
                          <a:schemeClr val="bg1">
                            <a:lumMod val="85000"/>
                          </a:schemeClr>
                        </a:solidFill>
                        <a:latin typeface="Arial"/>
                        <a:cs typeface="Arial"/>
                      </a:endParaRPr>
                    </a:p>
                  </a:txBody>
                  <a:tcPr marL="182880" marT="137160">
                    <a:solidFill>
                      <a:srgbClr val="010101"/>
                    </a:solidFill>
                  </a:tcPr>
                </a:tc>
                <a:tc gridSpan="2">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endParaRPr lang="en-US"/>
                    </a:p>
                  </a:txBody>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1567305" y="32390910"/>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extLst>
      <p:ext uri="{BB962C8B-B14F-4D97-AF65-F5344CB8AC3E}">
        <p14:creationId xmlns:p14="http://schemas.microsoft.com/office/powerpoint/2010/main" val="717728416"/>
      </p:ext>
    </p:extLst>
  </p:cSld>
  <p:clrMap bg1="lt1" tx1="dk1" bg2="lt2" tx2="dk2" accent1="accent1" accent2="accent2" accent3="accent3" accent4="accent4" accent5="accent5" accent6="accent6" hlink="hlink" folHlink="folHlink"/>
  <p:sldLayoutIdLst>
    <p:sldLayoutId id="2147483654"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Text Placeholder 86">
            <a:extLst>
              <a:ext uri="{FF2B5EF4-FFF2-40B4-BE49-F238E27FC236}">
                <a16:creationId xmlns:a16="http://schemas.microsoft.com/office/drawing/2014/main" id="{B51B601C-AA87-C448-96E5-5B6D1C8B4249}"/>
              </a:ext>
            </a:extLst>
          </p:cNvPr>
          <p:cNvSpPr>
            <a:spLocks noGrp="1"/>
          </p:cNvSpPr>
          <p:nvPr>
            <p:ph type="body" sz="quarter" idx="10"/>
          </p:nvPr>
        </p:nvSpPr>
        <p:spPr>
          <a:xfrm>
            <a:off x="459674" y="6073681"/>
            <a:ext cx="10056813" cy="8079113"/>
          </a:xfrm>
          <a:ln w="3175">
            <a:solidFill>
              <a:schemeClr val="tx1"/>
            </a:solidFill>
          </a:ln>
        </p:spPr>
        <p:txBody>
          <a:bodyPr/>
          <a:lstStyle/>
          <a:p>
            <a:pPr algn="just"/>
            <a:r>
              <a:rPr lang="en-US" dirty="0">
                <a:solidFill>
                  <a:schemeClr val="tx1"/>
                </a:solidFill>
              </a:rPr>
              <a:t>Agricultural reasoning is inherently </a:t>
            </a:r>
            <a:r>
              <a:rPr lang="en-US" b="1" dirty="0">
                <a:solidFill>
                  <a:schemeClr val="tx1"/>
                </a:solidFill>
              </a:rPr>
              <a:t>context-dependent</a:t>
            </a:r>
            <a:r>
              <a:rPr lang="en-US" dirty="0">
                <a:solidFill>
                  <a:schemeClr val="tx1"/>
                </a:solidFill>
              </a:rPr>
              <a:t>. Accurate pest and disease identification and management can depend not only on visual symptoms, but also on factors such as </a:t>
            </a:r>
            <a:r>
              <a:rPr lang="en-US" b="1" dirty="0">
                <a:solidFill>
                  <a:schemeClr val="tx1"/>
                </a:solidFill>
              </a:rPr>
              <a:t>crop type, geographic location, season, and locally relevant agricultural guidance</a:t>
            </a:r>
            <a:r>
              <a:rPr lang="en-US" dirty="0">
                <a:solidFill>
                  <a:schemeClr val="tx1"/>
                </a:solidFill>
              </a:rPr>
              <a:t>.</a:t>
            </a:r>
          </a:p>
          <a:p>
            <a:pPr algn="just"/>
            <a:r>
              <a:rPr lang="en-US" dirty="0">
                <a:solidFill>
                  <a:schemeClr val="tx1"/>
                </a:solidFill>
              </a:rPr>
              <a:t>Foundation models provide strong general-purpose visual and language reasoning, but they may lack the </a:t>
            </a:r>
            <a:r>
              <a:rPr lang="en-US" b="1" dirty="0">
                <a:solidFill>
                  <a:schemeClr val="tx1"/>
                </a:solidFill>
              </a:rPr>
              <a:t>specialized, up-to-date, and region-specific knowledge</a:t>
            </a:r>
            <a:r>
              <a:rPr lang="en-US" dirty="0">
                <a:solidFill>
                  <a:schemeClr val="tx1"/>
                </a:solidFill>
              </a:rPr>
              <a:t> required for these decisions. Conventional retrieval-augmented generation can provide external knowledge, yet purely semantic retrieval may overlook important contextual constraints, while indiscriminate web search can introduce irrelevant or poorly scoped information.</a:t>
            </a:r>
          </a:p>
          <a:p>
            <a:pPr algn="just"/>
            <a:r>
              <a:rPr lang="en-US" b="1" dirty="0">
                <a:solidFill>
                  <a:schemeClr val="tx1"/>
                </a:solidFill>
              </a:rPr>
              <a:t>MetaMIRAGE</a:t>
            </a:r>
            <a:r>
              <a:rPr lang="en-US" dirty="0">
                <a:solidFill>
                  <a:schemeClr val="tx1"/>
                </a:solidFill>
              </a:rPr>
              <a:t> explores an adaptive approach in which a foundation model retrieves context using agricultural metadata, evaluates whether the available evidence is sufficient, and acquires additional knowledge when needed.</a:t>
            </a:r>
          </a:p>
          <a:p>
            <a:pPr algn="just"/>
            <a:r>
              <a:rPr lang="en-US" b="1" dirty="0">
                <a:solidFill>
                  <a:schemeClr val="tx1"/>
                </a:solidFill>
              </a:rPr>
              <a:t>Research Question</a:t>
            </a:r>
          </a:p>
          <a:p>
            <a:pPr algn="just"/>
            <a:r>
              <a:rPr lang="en-US" i="1" dirty="0">
                <a:solidFill>
                  <a:schemeClr val="tx1"/>
                </a:solidFill>
              </a:rPr>
              <a:t>Can metadata-aware retrieval and adaptive knowledge augmentation improve foundation-model reasoning for context-dependent agricultural identification and management tasks?</a:t>
            </a:r>
          </a:p>
        </p:txBody>
      </p:sp>
      <p:sp>
        <p:nvSpPr>
          <p:cNvPr id="88" name="Text Placeholder 87">
            <a:extLst>
              <a:ext uri="{FF2B5EF4-FFF2-40B4-BE49-F238E27FC236}">
                <a16:creationId xmlns:a16="http://schemas.microsoft.com/office/drawing/2014/main" id="{ED6BA1F4-974B-AA4D-BF12-3F1211493C26}"/>
              </a:ext>
            </a:extLst>
          </p:cNvPr>
          <p:cNvSpPr>
            <a:spLocks noGrp="1"/>
          </p:cNvSpPr>
          <p:nvPr>
            <p:ph type="body" sz="quarter" idx="11"/>
          </p:nvPr>
        </p:nvSpPr>
        <p:spPr>
          <a:xfrm>
            <a:off x="477827" y="5091549"/>
            <a:ext cx="10048875" cy="754045"/>
          </a:xfrm>
          <a:ln w="3175">
            <a:solidFill>
              <a:schemeClr val="tx1"/>
            </a:solidFill>
          </a:ln>
        </p:spPr>
        <p:txBody>
          <a:bodyPr/>
          <a:lstStyle/>
          <a:p>
            <a:r>
              <a:rPr lang="en-US" dirty="0"/>
              <a:t> </a:t>
            </a:r>
            <a:r>
              <a:rPr lang="en-US" u="none" dirty="0"/>
              <a:t>MOTIVATION</a:t>
            </a:r>
            <a:r>
              <a:rPr lang="en-US" dirty="0"/>
              <a:t> </a:t>
            </a:r>
          </a:p>
        </p:txBody>
      </p:sp>
      <p:sp>
        <p:nvSpPr>
          <p:cNvPr id="89" name="Text Placeholder 88">
            <a:extLst>
              <a:ext uri="{FF2B5EF4-FFF2-40B4-BE49-F238E27FC236}">
                <a16:creationId xmlns:a16="http://schemas.microsoft.com/office/drawing/2014/main" id="{52482D9A-DD3A-3E4D-B5A8-692345FB258E}"/>
              </a:ext>
            </a:extLst>
          </p:cNvPr>
          <p:cNvSpPr>
            <a:spLocks noGrp="1"/>
          </p:cNvSpPr>
          <p:nvPr>
            <p:ph type="body" sz="quarter" idx="20"/>
          </p:nvPr>
        </p:nvSpPr>
        <p:spPr>
          <a:xfrm>
            <a:off x="477825" y="14440335"/>
            <a:ext cx="10050462" cy="754045"/>
          </a:xfrm>
          <a:ln w="3175">
            <a:solidFill>
              <a:schemeClr val="tx1"/>
            </a:solidFill>
          </a:ln>
        </p:spPr>
        <p:txBody>
          <a:bodyPr/>
          <a:lstStyle/>
          <a:p>
            <a:r>
              <a:rPr lang="en-US" u="none" dirty="0"/>
              <a:t>DOMAIN KNOWLEDGE</a:t>
            </a:r>
          </a:p>
        </p:txBody>
      </p:sp>
      <p:sp>
        <p:nvSpPr>
          <p:cNvPr id="90" name="Text Placeholder 89">
            <a:extLst>
              <a:ext uri="{FF2B5EF4-FFF2-40B4-BE49-F238E27FC236}">
                <a16:creationId xmlns:a16="http://schemas.microsoft.com/office/drawing/2014/main" id="{B20DAE73-7398-3541-9047-3EF06FA94C0B}"/>
              </a:ext>
            </a:extLst>
          </p:cNvPr>
          <p:cNvSpPr>
            <a:spLocks noGrp="1"/>
          </p:cNvSpPr>
          <p:nvPr>
            <p:ph type="body" sz="quarter" idx="21"/>
          </p:nvPr>
        </p:nvSpPr>
        <p:spPr>
          <a:xfrm>
            <a:off x="11345861" y="6111781"/>
            <a:ext cx="21408812" cy="19838296"/>
          </a:xfrm>
          <a:ln w="3175">
            <a:solidFill>
              <a:schemeClr val="tx1"/>
            </a:solidFill>
          </a:ln>
        </p:spPr>
        <p:txBody>
          <a:bodyPr/>
          <a:lstStyle/>
          <a:p>
            <a:pPr algn="just"/>
            <a:r>
              <a:rPr lang="en-US" dirty="0">
                <a:solidFill>
                  <a:schemeClr val="tx1"/>
                </a:solidFill>
              </a:rPr>
              <a:t>MetaMIRAGE is an </a:t>
            </a:r>
            <a:r>
              <a:rPr lang="en-US" b="1" dirty="0">
                <a:solidFill>
                  <a:schemeClr val="tx1"/>
                </a:solidFill>
              </a:rPr>
              <a:t>adaptive RAG architecture</a:t>
            </a:r>
            <a:r>
              <a:rPr lang="en-US" dirty="0">
                <a:solidFill>
                  <a:schemeClr val="tx1"/>
                </a:solidFill>
              </a:rPr>
              <a:t> designed to control not only </a:t>
            </a:r>
            <a:r>
              <a:rPr lang="en-US" i="1" dirty="0">
                <a:solidFill>
                  <a:schemeClr val="tx1"/>
                </a:solidFill>
              </a:rPr>
              <a:t>what</a:t>
            </a:r>
            <a:r>
              <a:rPr lang="en-US" dirty="0">
                <a:solidFill>
                  <a:schemeClr val="tx1"/>
                </a:solidFill>
              </a:rPr>
              <a:t> knowledge is retrieved, but also </a:t>
            </a:r>
            <a:r>
              <a:rPr lang="en-US" i="1" dirty="0">
                <a:solidFill>
                  <a:schemeClr val="tx1"/>
                </a:solidFill>
              </a:rPr>
              <a:t>when additional knowledge should be acquired</a:t>
            </a:r>
            <a:r>
              <a:rPr lang="en-US" dirty="0">
                <a:solidFill>
                  <a:schemeClr val="tx1"/>
                </a:solidFill>
              </a:rPr>
              <a:t>. During inference, the system combines a curated agricultural knowledge base with a run-specific memory that can accumulate newly discovered evidence.</a:t>
            </a: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p:txBody>
      </p:sp>
      <p:sp>
        <p:nvSpPr>
          <p:cNvPr id="91" name="Text Placeholder 90">
            <a:extLst>
              <a:ext uri="{FF2B5EF4-FFF2-40B4-BE49-F238E27FC236}">
                <a16:creationId xmlns:a16="http://schemas.microsoft.com/office/drawing/2014/main" id="{6A984DC8-C031-724D-9B33-B7D232AE5C5D}"/>
              </a:ext>
            </a:extLst>
          </p:cNvPr>
          <p:cNvSpPr>
            <a:spLocks noGrp="1"/>
          </p:cNvSpPr>
          <p:nvPr>
            <p:ph type="body" sz="quarter" idx="22"/>
          </p:nvPr>
        </p:nvSpPr>
        <p:spPr>
          <a:xfrm>
            <a:off x="11307761" y="5063502"/>
            <a:ext cx="21408812" cy="754045"/>
          </a:xfrm>
          <a:ln w="3175">
            <a:solidFill>
              <a:schemeClr val="tx1"/>
            </a:solidFill>
          </a:ln>
        </p:spPr>
        <p:txBody>
          <a:bodyPr/>
          <a:lstStyle/>
          <a:p>
            <a:r>
              <a:rPr lang="en-US" u="none" dirty="0"/>
              <a:t>MetaMIRAGE ARCHITECUTRE</a:t>
            </a:r>
          </a:p>
        </p:txBody>
      </p:sp>
      <p:sp>
        <p:nvSpPr>
          <p:cNvPr id="94" name="Text Placeholder 93">
            <a:extLst>
              <a:ext uri="{FF2B5EF4-FFF2-40B4-BE49-F238E27FC236}">
                <a16:creationId xmlns:a16="http://schemas.microsoft.com/office/drawing/2014/main" id="{2F97B74B-534C-0842-BE55-AF8FB3442020}"/>
              </a:ext>
            </a:extLst>
          </p:cNvPr>
          <p:cNvSpPr>
            <a:spLocks noGrp="1"/>
          </p:cNvSpPr>
          <p:nvPr>
            <p:ph type="body" sz="quarter" idx="25"/>
          </p:nvPr>
        </p:nvSpPr>
        <p:spPr>
          <a:xfrm>
            <a:off x="33390292" y="5015349"/>
            <a:ext cx="10047018" cy="754045"/>
          </a:xfrm>
          <a:ln w="3175">
            <a:solidFill>
              <a:schemeClr val="tx1"/>
            </a:solidFill>
          </a:ln>
        </p:spPr>
        <p:txBody>
          <a:bodyPr/>
          <a:lstStyle/>
          <a:p>
            <a:r>
              <a:rPr lang="en-US" u="none" dirty="0"/>
              <a:t>EXPERIMENTAL DESIGN</a:t>
            </a:r>
          </a:p>
        </p:txBody>
      </p:sp>
      <p:sp>
        <p:nvSpPr>
          <p:cNvPr id="95" name="Text Placeholder 94">
            <a:extLst>
              <a:ext uri="{FF2B5EF4-FFF2-40B4-BE49-F238E27FC236}">
                <a16:creationId xmlns:a16="http://schemas.microsoft.com/office/drawing/2014/main" id="{C425D03E-96C1-804B-9990-78B2B8349537}"/>
              </a:ext>
            </a:extLst>
          </p:cNvPr>
          <p:cNvSpPr>
            <a:spLocks noGrp="1"/>
          </p:cNvSpPr>
          <p:nvPr>
            <p:ph type="body" sz="quarter" idx="26"/>
          </p:nvPr>
        </p:nvSpPr>
        <p:spPr>
          <a:xfrm>
            <a:off x="33390292" y="6149880"/>
            <a:ext cx="10047018" cy="9233275"/>
          </a:xfrm>
          <a:ln w="3175">
            <a:solidFill>
              <a:schemeClr val="tx1"/>
            </a:solidFill>
          </a:ln>
        </p:spPr>
        <p:txBody>
          <a:bodyPr/>
          <a:lstStyle/>
          <a:p>
            <a:pPr algn="just"/>
            <a:r>
              <a:rPr lang="en-US" dirty="0">
                <a:solidFill>
                  <a:schemeClr val="tx1"/>
                </a:solidFill>
              </a:rPr>
              <a:t>The evaluation is designed to isolate the contribution of each major MetaMIRAGE component rather than compare only the full system against a baseline. The runtime is explicitly ablation-driven, with progressive filtering, confidence evaluation, web search, domain filtering, ingestion, and crop enrichment independently controlled.</a:t>
            </a: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r>
              <a:rPr lang="en-US" dirty="0">
                <a:solidFill>
                  <a:schemeClr val="tx1"/>
                </a:solidFill>
              </a:rPr>
              <a:t>Each configuration selectively enables system components to measure their individual and combined effects on agro-reasoning performance.</a:t>
            </a:r>
          </a:p>
        </p:txBody>
      </p:sp>
      <p:sp>
        <p:nvSpPr>
          <p:cNvPr id="96" name="Text Placeholder 95">
            <a:extLst>
              <a:ext uri="{FF2B5EF4-FFF2-40B4-BE49-F238E27FC236}">
                <a16:creationId xmlns:a16="http://schemas.microsoft.com/office/drawing/2014/main" id="{59AA662D-8D39-F746-9987-521130222D8C}"/>
              </a:ext>
            </a:extLst>
          </p:cNvPr>
          <p:cNvSpPr>
            <a:spLocks noGrp="1"/>
          </p:cNvSpPr>
          <p:nvPr>
            <p:ph type="body" sz="quarter" idx="27"/>
          </p:nvPr>
        </p:nvSpPr>
        <p:spPr>
          <a:xfrm>
            <a:off x="33390292" y="15707838"/>
            <a:ext cx="10047018" cy="754045"/>
          </a:xfrm>
          <a:ln w="3175">
            <a:solidFill>
              <a:schemeClr val="tx1"/>
            </a:solidFill>
          </a:ln>
        </p:spPr>
        <p:txBody>
          <a:bodyPr/>
          <a:lstStyle/>
          <a:p>
            <a:r>
              <a:rPr lang="en-US" u="none" dirty="0"/>
              <a:t>EVALUATION</a:t>
            </a:r>
          </a:p>
        </p:txBody>
      </p:sp>
      <p:sp>
        <p:nvSpPr>
          <p:cNvPr id="97" name="Text Placeholder 96">
            <a:extLst>
              <a:ext uri="{FF2B5EF4-FFF2-40B4-BE49-F238E27FC236}">
                <a16:creationId xmlns:a16="http://schemas.microsoft.com/office/drawing/2014/main" id="{C9838796-29D9-8A4D-9392-4C51FAC609C9}"/>
              </a:ext>
            </a:extLst>
          </p:cNvPr>
          <p:cNvSpPr>
            <a:spLocks noGrp="1"/>
          </p:cNvSpPr>
          <p:nvPr>
            <p:ph type="body" sz="quarter" idx="28"/>
          </p:nvPr>
        </p:nvSpPr>
        <p:spPr>
          <a:xfrm>
            <a:off x="33390292" y="16751301"/>
            <a:ext cx="10052050" cy="9131299"/>
          </a:xfrm>
          <a:ln w="3175">
            <a:solidFill>
              <a:schemeClr val="tx1"/>
            </a:solidFill>
          </a:ln>
        </p:spPr>
        <p:txBody>
          <a:bodyPr/>
          <a:lstStyle/>
          <a:p>
            <a:pPr algn="just"/>
            <a:r>
              <a:rPr lang="en-US" dirty="0">
                <a:solidFill>
                  <a:schemeClr val="tx1"/>
                </a:solidFill>
              </a:rPr>
              <a:t>MetaMIRAGE is evaluated on agricultural </a:t>
            </a:r>
            <a:r>
              <a:rPr lang="en-US" b="1" dirty="0">
                <a:solidFill>
                  <a:schemeClr val="tx1"/>
                </a:solidFill>
              </a:rPr>
              <a:t>identification</a:t>
            </a:r>
            <a:r>
              <a:rPr lang="en-US" dirty="0">
                <a:solidFill>
                  <a:schemeClr val="tx1"/>
                </a:solidFill>
              </a:rPr>
              <a:t> and </a:t>
            </a:r>
            <a:r>
              <a:rPr lang="en-US" b="1" dirty="0">
                <a:solidFill>
                  <a:schemeClr val="tx1"/>
                </a:solidFill>
              </a:rPr>
              <a:t>management</a:t>
            </a:r>
            <a:r>
              <a:rPr lang="en-US" dirty="0">
                <a:solidFill>
                  <a:schemeClr val="tx1"/>
                </a:solidFill>
              </a:rPr>
              <a:t> tasks using a common benchmark and a consistent evaluation pipeline across all ablation configurations.</a:t>
            </a:r>
          </a:p>
          <a:p>
            <a:pPr algn="just"/>
            <a:r>
              <a:rPr lang="en-US" dirty="0">
                <a:solidFill>
                  <a:schemeClr val="tx1"/>
                </a:solidFill>
              </a:rPr>
              <a:t>For each benchmark item, the selected system configuration generates a response using the same underlying foundation model and inference setup. The resulting answers are then evaluated using an </a:t>
            </a:r>
            <a:r>
              <a:rPr lang="en-US" b="1" dirty="0">
                <a:solidFill>
                  <a:schemeClr val="tx1"/>
                </a:solidFill>
              </a:rPr>
              <a:t>LLM-as-a-judge</a:t>
            </a:r>
            <a:r>
              <a:rPr lang="en-US" dirty="0">
                <a:solidFill>
                  <a:schemeClr val="tx1"/>
                </a:solidFill>
              </a:rPr>
              <a:t> framework, with separate criteria for identification and management quality.</a:t>
            </a: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p:txBody>
      </p:sp>
      <p:sp>
        <p:nvSpPr>
          <p:cNvPr id="98" name="Text Placeholder 97">
            <a:extLst>
              <a:ext uri="{FF2B5EF4-FFF2-40B4-BE49-F238E27FC236}">
                <a16:creationId xmlns:a16="http://schemas.microsoft.com/office/drawing/2014/main" id="{5FF1C2DE-3A2B-6E4D-A87A-F041F0046A3A}"/>
              </a:ext>
            </a:extLst>
          </p:cNvPr>
          <p:cNvSpPr>
            <a:spLocks noGrp="1"/>
          </p:cNvSpPr>
          <p:nvPr>
            <p:ph type="body" sz="quarter" idx="29"/>
          </p:nvPr>
        </p:nvSpPr>
        <p:spPr>
          <a:xfrm>
            <a:off x="33395324" y="26287363"/>
            <a:ext cx="10047018" cy="754045"/>
          </a:xfrm>
          <a:ln w="3175">
            <a:solidFill>
              <a:schemeClr val="tx1"/>
            </a:solidFill>
          </a:ln>
        </p:spPr>
        <p:txBody>
          <a:bodyPr/>
          <a:lstStyle/>
          <a:p>
            <a:r>
              <a:rPr lang="en-US" u="none" dirty="0"/>
              <a:t>TAKEAWAY</a:t>
            </a:r>
          </a:p>
        </p:txBody>
      </p:sp>
      <p:sp>
        <p:nvSpPr>
          <p:cNvPr id="99" name="Text Placeholder 98">
            <a:extLst>
              <a:ext uri="{FF2B5EF4-FFF2-40B4-BE49-F238E27FC236}">
                <a16:creationId xmlns:a16="http://schemas.microsoft.com/office/drawing/2014/main" id="{D5A02CF7-A081-4343-8CE7-EA107BE5C7F0}"/>
              </a:ext>
            </a:extLst>
          </p:cNvPr>
          <p:cNvSpPr>
            <a:spLocks noGrp="1"/>
          </p:cNvSpPr>
          <p:nvPr>
            <p:ph type="body" sz="quarter" idx="30"/>
          </p:nvPr>
        </p:nvSpPr>
        <p:spPr>
          <a:xfrm>
            <a:off x="33390292" y="27375554"/>
            <a:ext cx="10052050" cy="4971207"/>
          </a:xfrm>
          <a:ln w="3175">
            <a:solidFill>
              <a:schemeClr val="tx1"/>
            </a:solidFill>
          </a:ln>
        </p:spPr>
        <p:txBody>
          <a:bodyPr/>
          <a:lstStyle/>
          <a:p>
            <a:endParaRPr lang="en-US" dirty="0"/>
          </a:p>
        </p:txBody>
      </p:sp>
      <p:sp>
        <p:nvSpPr>
          <p:cNvPr id="100" name="Text Placeholder 99">
            <a:extLst>
              <a:ext uri="{FF2B5EF4-FFF2-40B4-BE49-F238E27FC236}">
                <a16:creationId xmlns:a16="http://schemas.microsoft.com/office/drawing/2014/main" id="{E1D63EAF-47F9-774B-9E42-7734CFFDC91E}"/>
              </a:ext>
            </a:extLst>
          </p:cNvPr>
          <p:cNvSpPr>
            <a:spLocks noGrp="1"/>
          </p:cNvSpPr>
          <p:nvPr>
            <p:ph type="body" sz="quarter" idx="96"/>
          </p:nvPr>
        </p:nvSpPr>
        <p:spPr>
          <a:xfrm>
            <a:off x="459674" y="15408752"/>
            <a:ext cx="10056813" cy="10541325"/>
          </a:xfrm>
          <a:ln w="3175">
            <a:solidFill>
              <a:schemeClr val="tx1"/>
            </a:solidFill>
          </a:ln>
        </p:spPr>
        <p:txBody>
          <a:bodyPr/>
          <a:lstStyle/>
          <a:p>
            <a:pPr algn="just"/>
            <a:r>
              <a:rPr lang="en-US" dirty="0">
                <a:solidFill>
                  <a:schemeClr val="tx1"/>
                </a:solidFill>
              </a:rPr>
              <a:t>MetaMIRAGE relies on a curated agricultural knowledge base built from heterogeneous sources such as </a:t>
            </a:r>
            <a:r>
              <a:rPr lang="en-US" b="1" dirty="0">
                <a:solidFill>
                  <a:schemeClr val="tx1"/>
                </a:solidFill>
              </a:rPr>
              <a:t>extension documents, PDFs, web resources, and structured datasets</a:t>
            </a:r>
            <a:r>
              <a:rPr lang="en-US" dirty="0">
                <a:solidFill>
                  <a:schemeClr val="tx1"/>
                </a:solidFill>
              </a:rPr>
              <a:t>. These sources are normalized, chunked, embedded, and stored in a shared </a:t>
            </a:r>
            <a:r>
              <a:rPr lang="en-US" b="1" dirty="0">
                <a:solidFill>
                  <a:schemeClr val="tx1"/>
                </a:solidFill>
              </a:rPr>
              <a:t>Qdrant vector database</a:t>
            </a:r>
            <a:r>
              <a:rPr lang="en-US" dirty="0">
                <a:solidFill>
                  <a:schemeClr val="tx1"/>
                </a:solidFill>
              </a:rPr>
              <a:t> for retrieval during inference.</a:t>
            </a: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b="1" dirty="0">
              <a:solidFill>
                <a:schemeClr val="tx1"/>
              </a:solidFill>
            </a:endParaRPr>
          </a:p>
          <a:p>
            <a:pPr algn="just"/>
            <a:endParaRPr lang="en-US" b="1" dirty="0">
              <a:solidFill>
                <a:schemeClr val="tx1"/>
              </a:solidFill>
            </a:endParaRPr>
          </a:p>
          <a:p>
            <a:pPr algn="just"/>
            <a:endParaRPr lang="en-US" b="1" dirty="0">
              <a:solidFill>
                <a:schemeClr val="tx1"/>
              </a:solidFill>
            </a:endParaRPr>
          </a:p>
          <a:p>
            <a:pPr algn="just"/>
            <a:endParaRPr lang="en-US" b="1" dirty="0">
              <a:solidFill>
                <a:schemeClr val="tx1"/>
              </a:solidFill>
            </a:endParaRPr>
          </a:p>
          <a:p>
            <a:pPr algn="just"/>
            <a:endParaRPr lang="en-US" b="1" dirty="0">
              <a:solidFill>
                <a:schemeClr val="tx1"/>
              </a:solidFill>
            </a:endParaRPr>
          </a:p>
          <a:p>
            <a:pPr algn="just"/>
            <a:endParaRPr lang="en-US" b="1" dirty="0">
              <a:solidFill>
                <a:schemeClr val="tx1"/>
              </a:solidFill>
            </a:endParaRPr>
          </a:p>
          <a:p>
            <a:pPr algn="just"/>
            <a:endParaRPr lang="en-US" b="1" dirty="0">
              <a:solidFill>
                <a:schemeClr val="tx1"/>
              </a:solidFill>
            </a:endParaRPr>
          </a:p>
          <a:p>
            <a:pPr algn="just"/>
            <a:endParaRPr lang="en-US" b="1" dirty="0">
              <a:solidFill>
                <a:schemeClr val="tx1"/>
              </a:solidFill>
            </a:endParaRPr>
          </a:p>
          <a:p>
            <a:pPr algn="just"/>
            <a:endParaRPr lang="en-US" b="1" dirty="0">
              <a:solidFill>
                <a:schemeClr val="tx1"/>
              </a:solidFill>
            </a:endParaRPr>
          </a:p>
          <a:p>
            <a:pPr algn="just"/>
            <a:endParaRPr lang="en-US" b="1" dirty="0">
              <a:solidFill>
                <a:schemeClr val="tx1"/>
              </a:solidFill>
            </a:endParaRPr>
          </a:p>
          <a:p>
            <a:pPr algn="just"/>
            <a:endParaRPr lang="en-US" b="1" dirty="0">
              <a:solidFill>
                <a:schemeClr val="tx1"/>
              </a:solidFill>
            </a:endParaRPr>
          </a:p>
          <a:p>
            <a:pPr algn="just"/>
            <a:endParaRPr lang="en-US" b="1" i="1" dirty="0">
              <a:solidFill>
                <a:schemeClr val="tx1"/>
              </a:solidFill>
            </a:endParaRPr>
          </a:p>
          <a:p>
            <a:pPr algn="just"/>
            <a:r>
              <a:rPr lang="en-US" i="1" dirty="0">
                <a:solidFill>
                  <a:schemeClr val="tx1"/>
                </a:solidFill>
              </a:rPr>
              <a:t>The goal is not simply to store more agricultural knowledge, but to preserve the contextual signals needed to retrieve the right knowledge for a specific query.</a:t>
            </a:r>
          </a:p>
        </p:txBody>
      </p:sp>
      <p:sp>
        <p:nvSpPr>
          <p:cNvPr id="101" name="Text Placeholder 100">
            <a:extLst>
              <a:ext uri="{FF2B5EF4-FFF2-40B4-BE49-F238E27FC236}">
                <a16:creationId xmlns:a16="http://schemas.microsoft.com/office/drawing/2014/main" id="{3F1E5495-EDC6-8943-BA21-C1F3009450C4}"/>
              </a:ext>
            </a:extLst>
          </p:cNvPr>
          <p:cNvSpPr>
            <a:spLocks noGrp="1"/>
          </p:cNvSpPr>
          <p:nvPr>
            <p:ph type="body" sz="quarter" idx="150"/>
          </p:nvPr>
        </p:nvSpPr>
        <p:spPr>
          <a:xfrm>
            <a:off x="477828" y="3764947"/>
            <a:ext cx="42908497" cy="993360"/>
          </a:xfrm>
          <a:ln w="3175">
            <a:noFill/>
          </a:ln>
        </p:spPr>
        <p:txBody>
          <a:bodyPr>
            <a:normAutofit lnSpcReduction="10000"/>
          </a:bodyPr>
          <a:lstStyle/>
          <a:p>
            <a:r>
              <a:rPr lang="en-US" dirty="0">
                <a:solidFill>
                  <a:schemeClr val="tx1"/>
                </a:solidFill>
              </a:rPr>
              <a:t>NextGen Embodied AI Solutions Lab, University of Illinois, Urbana-Champaign</a:t>
            </a:r>
          </a:p>
        </p:txBody>
      </p:sp>
      <p:sp>
        <p:nvSpPr>
          <p:cNvPr id="102" name="Text Placeholder 101">
            <a:extLst>
              <a:ext uri="{FF2B5EF4-FFF2-40B4-BE49-F238E27FC236}">
                <a16:creationId xmlns:a16="http://schemas.microsoft.com/office/drawing/2014/main" id="{54FAC610-AA8B-4244-8F06-6E0DE1A9D297}"/>
              </a:ext>
            </a:extLst>
          </p:cNvPr>
          <p:cNvSpPr>
            <a:spLocks noGrp="1"/>
          </p:cNvSpPr>
          <p:nvPr>
            <p:ph type="body" sz="quarter" idx="151"/>
          </p:nvPr>
        </p:nvSpPr>
        <p:spPr>
          <a:xfrm>
            <a:off x="477828" y="2446687"/>
            <a:ext cx="42908497" cy="937774"/>
          </a:xfrm>
          <a:ln w="3175">
            <a:noFill/>
          </a:ln>
        </p:spPr>
        <p:txBody>
          <a:bodyPr>
            <a:normAutofit fontScale="92500" lnSpcReduction="10000"/>
          </a:bodyPr>
          <a:lstStyle/>
          <a:p>
            <a:r>
              <a:rPr lang="en-US" sz="6600" b="1" dirty="0">
                <a:solidFill>
                  <a:schemeClr val="accent2"/>
                </a:solidFill>
              </a:rPr>
              <a:t>Shashank Singh, Tushar Gupta</a:t>
            </a:r>
          </a:p>
        </p:txBody>
      </p:sp>
      <p:sp>
        <p:nvSpPr>
          <p:cNvPr id="103" name="Text Placeholder 102">
            <a:extLst>
              <a:ext uri="{FF2B5EF4-FFF2-40B4-BE49-F238E27FC236}">
                <a16:creationId xmlns:a16="http://schemas.microsoft.com/office/drawing/2014/main" id="{95FDDD8F-0EE1-3F4F-AEB9-C6A6DBC65968}"/>
              </a:ext>
            </a:extLst>
          </p:cNvPr>
          <p:cNvSpPr>
            <a:spLocks noGrp="1"/>
          </p:cNvSpPr>
          <p:nvPr>
            <p:ph type="body" sz="quarter" idx="153"/>
          </p:nvPr>
        </p:nvSpPr>
        <p:spPr>
          <a:xfrm>
            <a:off x="477828" y="465813"/>
            <a:ext cx="42908497" cy="1637974"/>
          </a:xfrm>
          <a:ln w="3175">
            <a:solidFill>
              <a:schemeClr val="tx1"/>
            </a:solidFill>
          </a:ln>
        </p:spPr>
        <p:txBody>
          <a:bodyPr>
            <a:normAutofit/>
          </a:bodyPr>
          <a:lstStyle/>
          <a:p>
            <a:r>
              <a:rPr lang="en-US" sz="8000" b="0" i="1" dirty="0"/>
              <a:t>MetaMIRAGE: Metadata-Aware Web-Augmented Visual Reasoning for Contextual Agriculture</a:t>
            </a:r>
            <a:endParaRPr lang="en-US" sz="8000" dirty="0"/>
          </a:p>
        </p:txBody>
      </p:sp>
      <p:sp>
        <p:nvSpPr>
          <p:cNvPr id="2" name="Text Placeholder 97">
            <a:extLst>
              <a:ext uri="{FF2B5EF4-FFF2-40B4-BE49-F238E27FC236}">
                <a16:creationId xmlns:a16="http://schemas.microsoft.com/office/drawing/2014/main" id="{F33715EF-6B5B-1240-6FAF-9181F6254C1F}"/>
              </a:ext>
            </a:extLst>
          </p:cNvPr>
          <p:cNvSpPr txBox="1">
            <a:spLocks/>
          </p:cNvSpPr>
          <p:nvPr/>
        </p:nvSpPr>
        <p:spPr>
          <a:xfrm>
            <a:off x="453889" y="26290136"/>
            <a:ext cx="32415083" cy="754045"/>
          </a:xfrm>
          <a:prstGeom prst="rect">
            <a:avLst/>
          </a:prstGeom>
          <a:noFill/>
          <a:ln w="3175">
            <a:solidFill>
              <a:schemeClr val="tx1"/>
            </a:solidFill>
          </a:ln>
        </p:spPr>
        <p:txBody>
          <a:bodyPr wrap="square" lIns="91436" tIns="91436" rIns="91436" bIns="91436" anchor="ctr" anchorCtr="0">
            <a:spAutoFit/>
          </a:bodyPr>
          <a:lstStyle>
            <a:lvl1pPr marL="0" indent="0" algn="ctr" defTabSz="4388900" rtl="0" eaLnBrk="1" latinLnBrk="0" hangingPunct="1">
              <a:spcBef>
                <a:spcPct val="20000"/>
              </a:spcBef>
              <a:buFont typeface="Arial" pitchFamily="34" charset="0"/>
              <a:buNone/>
              <a:defRPr sz="3700" b="1" u="sng" kern="1200" baseline="0">
                <a:solidFill>
                  <a:schemeClr val="accent5">
                    <a:lumMod val="50000"/>
                  </a:schemeClr>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u="none" dirty="0"/>
              <a:t>CURRENT STATUS ONGOING WORK</a:t>
            </a:r>
          </a:p>
        </p:txBody>
      </p:sp>
      <p:sp>
        <p:nvSpPr>
          <p:cNvPr id="3" name="Text Placeholder 98">
            <a:extLst>
              <a:ext uri="{FF2B5EF4-FFF2-40B4-BE49-F238E27FC236}">
                <a16:creationId xmlns:a16="http://schemas.microsoft.com/office/drawing/2014/main" id="{B3CCE41B-0979-A216-B122-4CE7F58A9AA7}"/>
              </a:ext>
            </a:extLst>
          </p:cNvPr>
          <p:cNvSpPr txBox="1">
            <a:spLocks/>
          </p:cNvSpPr>
          <p:nvPr/>
        </p:nvSpPr>
        <p:spPr>
          <a:xfrm>
            <a:off x="477828" y="26345044"/>
            <a:ext cx="32415083" cy="5913316"/>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endParaRPr lang="en-US" dirty="0"/>
          </a:p>
        </p:txBody>
      </p:sp>
      <p:sp>
        <p:nvSpPr>
          <p:cNvPr id="4" name="Text Placeholder 98">
            <a:extLst>
              <a:ext uri="{FF2B5EF4-FFF2-40B4-BE49-F238E27FC236}">
                <a16:creationId xmlns:a16="http://schemas.microsoft.com/office/drawing/2014/main" id="{65F269AF-5F67-8D87-E5FF-E1CB02A6D7A3}"/>
              </a:ext>
            </a:extLst>
          </p:cNvPr>
          <p:cNvSpPr txBox="1">
            <a:spLocks/>
          </p:cNvSpPr>
          <p:nvPr/>
        </p:nvSpPr>
        <p:spPr>
          <a:xfrm>
            <a:off x="477828" y="26487837"/>
            <a:ext cx="32391144" cy="5913316"/>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endParaRPr lang="en-US" dirty="0"/>
          </a:p>
        </p:txBody>
      </p:sp>
      <p:sp>
        <p:nvSpPr>
          <p:cNvPr id="5" name="Text Placeholder 98">
            <a:extLst>
              <a:ext uri="{FF2B5EF4-FFF2-40B4-BE49-F238E27FC236}">
                <a16:creationId xmlns:a16="http://schemas.microsoft.com/office/drawing/2014/main" id="{B1CFC201-DD12-3CC7-508B-B502C72AD5E9}"/>
              </a:ext>
            </a:extLst>
          </p:cNvPr>
          <p:cNvSpPr txBox="1">
            <a:spLocks/>
          </p:cNvSpPr>
          <p:nvPr/>
        </p:nvSpPr>
        <p:spPr>
          <a:xfrm>
            <a:off x="477828" y="27375554"/>
            <a:ext cx="32391143" cy="846363"/>
          </a:xfrm>
          <a:prstGeom prst="rect">
            <a:avLst/>
          </a:prstGeom>
          <a:ln w="3175">
            <a:solidFill>
              <a:schemeClr val="tx1"/>
            </a:solidFill>
          </a:ln>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dirty="0"/>
              <a:t>Type in or paste your text here</a:t>
            </a:r>
          </a:p>
        </p:txBody>
      </p:sp>
      <p:pic>
        <p:nvPicPr>
          <p:cNvPr id="11" name="Picture 10">
            <a:extLst>
              <a:ext uri="{FF2B5EF4-FFF2-40B4-BE49-F238E27FC236}">
                <a16:creationId xmlns:a16="http://schemas.microsoft.com/office/drawing/2014/main" id="{143D8632-581C-CB38-DAEE-B96E733859B4}"/>
              </a:ext>
            </a:extLst>
          </p:cNvPr>
          <p:cNvPicPr>
            <a:picLocks noChangeAspect="1"/>
          </p:cNvPicPr>
          <p:nvPr/>
        </p:nvPicPr>
        <p:blipFill>
          <a:blip r:embed="rId3"/>
          <a:stretch>
            <a:fillRect/>
          </a:stretch>
        </p:blipFill>
        <p:spPr>
          <a:xfrm>
            <a:off x="1751579" y="17607305"/>
            <a:ext cx="6820921" cy="6608298"/>
          </a:xfrm>
          <a:prstGeom prst="rect">
            <a:avLst/>
          </a:prstGeom>
        </p:spPr>
      </p:pic>
      <p:pic>
        <p:nvPicPr>
          <p:cNvPr id="13" name="Picture 12">
            <a:extLst>
              <a:ext uri="{FF2B5EF4-FFF2-40B4-BE49-F238E27FC236}">
                <a16:creationId xmlns:a16="http://schemas.microsoft.com/office/drawing/2014/main" id="{C3E4D54B-D2C1-5F0E-21C5-97DFD43D85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889293" y="7599960"/>
            <a:ext cx="10390307" cy="17761809"/>
          </a:xfrm>
          <a:prstGeom prst="rect">
            <a:avLst/>
          </a:prstGeom>
        </p:spPr>
      </p:pic>
      <p:pic>
        <p:nvPicPr>
          <p:cNvPr id="15" name="Picture 14">
            <a:extLst>
              <a:ext uri="{FF2B5EF4-FFF2-40B4-BE49-F238E27FC236}">
                <a16:creationId xmlns:a16="http://schemas.microsoft.com/office/drawing/2014/main" id="{1713BEF8-6435-734D-E40B-F2032EB42D5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3754978" y="20508453"/>
            <a:ext cx="9317645" cy="4853316"/>
          </a:xfrm>
          <a:prstGeom prst="rect">
            <a:avLst/>
          </a:prstGeom>
        </p:spPr>
      </p:pic>
      <p:pic>
        <p:nvPicPr>
          <p:cNvPr id="19" name="Picture 18">
            <a:extLst>
              <a:ext uri="{FF2B5EF4-FFF2-40B4-BE49-F238E27FC236}">
                <a16:creationId xmlns:a16="http://schemas.microsoft.com/office/drawing/2014/main" id="{0C613F5F-2B7E-C389-7CF2-D4C3E5609FE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3754977" y="8411042"/>
            <a:ext cx="9317645" cy="5741752"/>
          </a:xfrm>
          <a:prstGeom prst="rect">
            <a:avLst/>
          </a:prstGeom>
        </p:spPr>
      </p:pic>
    </p:spTree>
    <p:extLst>
      <p:ext uri="{BB962C8B-B14F-4D97-AF65-F5344CB8AC3E}">
        <p14:creationId xmlns:p14="http://schemas.microsoft.com/office/powerpoint/2010/main" val="783191702"/>
      </p:ext>
    </p:extLst>
  </p:cSld>
  <p:clrMapOvr>
    <a:masterClrMapping/>
  </p:clrMapOvr>
</p:sld>
</file>

<file path=ppt/theme/theme1.xml><?xml version="1.0" encoding="utf-8"?>
<a:theme xmlns:a="http://schemas.openxmlformats.org/drawingml/2006/main" name="36x48-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guide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861</TotalTime>
  <Words>452</Words>
  <Application>Microsoft Office PowerPoint</Application>
  <PresentationFormat>Custom</PresentationFormat>
  <Paragraphs>100</Paragraphs>
  <Slides>1</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vt:i4>
      </vt:variant>
    </vt:vector>
  </HeadingPairs>
  <TitlesOfParts>
    <vt:vector size="8" baseType="lpstr">
      <vt:lpstr>Arial</vt:lpstr>
      <vt:lpstr>Arial Black</vt:lpstr>
      <vt:lpstr>Calibri</vt:lpstr>
      <vt:lpstr>Times New Roman</vt:lpstr>
      <vt:lpstr>Trebuchet MS</vt:lpstr>
      <vt:lpstr>36x48-Template</vt:lpstr>
      <vt:lpstr>Without guides</vt:lpstr>
      <vt:lpstr>PowerPoint Presentation</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PowerPoint Presentation</dc:title>
  <dc:subject>Research poster presentation template</dc:subject>
  <dc:creator>PosterPresentations.com</dc:creator>
  <cp:keywords>36x48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shashank p</cp:lastModifiedBy>
  <cp:revision>64</cp:revision>
  <dcterms:created xsi:type="dcterms:W3CDTF">2012-02-03T19:11:35Z</dcterms:created>
  <dcterms:modified xsi:type="dcterms:W3CDTF">2026-09-01T23:17:35Z</dcterms:modified>
  <cp:category>Research poster templates</cp:category>
</cp:coreProperties>
</file>